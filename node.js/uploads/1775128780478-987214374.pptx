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256" r:id="rId3"/>
    <p:sldId id="280" r:id="rId4"/>
    <p:sldId id="283" r:id="rId5"/>
    <p:sldId id="257" r:id="rId6"/>
    <p:sldId id="258" r:id="rId8"/>
    <p:sldId id="259" r:id="rId9"/>
    <p:sldId id="282" r:id="rId10"/>
    <p:sldId id="260" r:id="rId11"/>
    <p:sldId id="285" r:id="rId12"/>
    <p:sldId id="286" r:id="rId13"/>
    <p:sldId id="287" r:id="rId14"/>
    <p:sldId id="261" r:id="rId15"/>
    <p:sldId id="278" r:id="rId16"/>
    <p:sldId id="28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7" d="100"/>
          <a:sy n="87" d="100"/>
        </p:scale>
        <p:origin x="43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Титульный слайд">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endParaRPr lang="ru-RU"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endParaRPr lang="ru-RU" smtClean="0"/>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endParaRPr lang="ru-RU" smtClean="0"/>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endParaRPr lang="ru-RU"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ru-RU" smtClean="0"/>
              <a:t>Образец заголовка</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endParaRPr lang="ru-RU"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endParaRPr lang="ru-RU"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endParaRPr lang="ru-RU"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endParaRPr lang="ru-RU" smtClean="0"/>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endParaRPr lang="ru-RU"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endParaRPr lang="ru-RU"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endParaRPr lang="ru-RU" smtClean="0"/>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endParaRPr lang="ru-RU"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ru-RU" smtClean="0"/>
              <a:t>Образец заголовка</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endParaRPr lang="ru-RU" smtClean="0"/>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endParaRPr lang="ru-RU"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19">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ru-RU" smtClean="0"/>
              <a:t>Образец текста</a:t>
            </a:r>
            <a:endParaRPr lang="ru-RU" smtClean="0"/>
          </a:p>
          <a:p>
            <a:pPr lvl="1"/>
            <a:r>
              <a:rPr lang="ru-RU" smtClean="0"/>
              <a:t>Второй уровень</a:t>
            </a:r>
            <a:endParaRPr lang="ru-RU" smtClean="0"/>
          </a:p>
          <a:p>
            <a:pPr lvl="2"/>
            <a:r>
              <a:rPr lang="ru-RU" smtClean="0"/>
              <a:t>Третий уровень</a:t>
            </a:r>
            <a:endParaRPr lang="ru-RU" smtClean="0"/>
          </a:p>
          <a:p>
            <a:pPr lvl="3"/>
            <a:r>
              <a:rPr lang="ru-RU" smtClean="0"/>
              <a:t>Четвертый уровень</a:t>
            </a:r>
            <a:endParaRPr lang="ru-RU" smtClean="0"/>
          </a:p>
          <a:p>
            <a:pPr lvl="4"/>
            <a:r>
              <a:rPr lang="ru-RU" smtClean="0"/>
              <a:t>Пятый уровень</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692398" y="2019630"/>
            <a:ext cx="6815669" cy="993914"/>
          </a:xfrm>
        </p:spPr>
        <p:txBody>
          <a:bodyPr/>
          <a:lstStyle/>
          <a:p>
            <a:r>
              <a:rPr lang="en-US" dirty="0">
                <a:latin typeface="Algerian" panose="04020705040A02060702" pitchFamily="82" charset="0"/>
              </a:rPr>
              <a:t>MUSTAQIL ISH</a:t>
            </a:r>
            <a:endParaRPr lang="en-US" dirty="0"/>
          </a:p>
        </p:txBody>
      </p:sp>
      <p:sp>
        <p:nvSpPr>
          <p:cNvPr id="3" name="Подзаголовок 2"/>
          <p:cNvSpPr>
            <a:spLocks noGrp="1"/>
          </p:cNvSpPr>
          <p:nvPr>
            <p:ph type="subTitle" idx="1"/>
          </p:nvPr>
        </p:nvSpPr>
        <p:spPr>
          <a:xfrm>
            <a:off x="2602524" y="3798277"/>
            <a:ext cx="6905544" cy="2136530"/>
          </a:xfrm>
        </p:spPr>
        <p:txBody>
          <a:bodyPr>
            <a:normAutofit/>
          </a:bodyPr>
          <a:lstStyle/>
          <a:p>
            <a:r>
              <a:rPr lang="en-US" sz="3200" b="1" spc="-150" dirty="0" err="1">
                <a:solidFill>
                  <a:srgbClr val="00B050"/>
                </a:solidFill>
              </a:rPr>
              <a:t>Mavzu:Ta`limda multimedia: R Mayerning kognitiv tamoyillari va ularni qo`llash.</a:t>
            </a:r>
            <a:endParaRPr lang="en-US" altLang="en-US" sz="3200" b="1" spc="-150" dirty="0" smtClean="0">
              <a:solidFill>
                <a:srgbClr val="00B050"/>
              </a:solidFill>
            </a:endParaRPr>
          </a:p>
          <a:p>
            <a:endParaRPr lang="en-US" sz="12800" b="1" spc="-150" dirty="0">
              <a:solidFill>
                <a:srgbClr val="00B050"/>
              </a:solidFill>
            </a:endParaRPr>
          </a:p>
          <a:p>
            <a:endParaRPr lang="en-US" sz="5500" b="1" spc="-150" dirty="0">
              <a:solidFill>
                <a:srgbClr val="00B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95400" y="616585"/>
            <a:ext cx="9601200" cy="1669415"/>
          </a:xfrm>
        </p:spPr>
        <p:txBody>
          <a:bodyPr>
            <a:normAutofit fontScale="90000"/>
            <a:scene3d>
              <a:camera prst="orthographicFront"/>
              <a:lightRig rig="harsh" dir="t"/>
            </a:scene3d>
            <a:sp3d extrusionH="57150" prstMaterial="matte">
              <a:bevelT w="63500" h="12700" prst="angle"/>
              <a:contourClr>
                <a:schemeClr val="bg1">
                  <a:lumMod val="65000"/>
                </a:schemeClr>
              </a:contourClr>
            </a:sp3d>
          </a:bodyPr>
          <a:p>
            <a:pPr algn="ctr"/>
            <a:r>
              <a:rPr lang="en-US" altLang="en-US">
                <a:solidFill>
                  <a:schemeClr val="accent3"/>
                </a:solidFill>
                <a:effectLst/>
              </a:rPr>
              <a:t>Bajardi:Omonov Sardor</a:t>
            </a:r>
            <a:br>
              <a:rPr lang="en-US" altLang="en-US">
                <a:solidFill>
                  <a:schemeClr val="accent3"/>
                </a:solidFill>
                <a:effectLst/>
              </a:rPr>
            </a:br>
            <a:r>
              <a:rPr lang="en-US" altLang="en-US">
                <a:solidFill>
                  <a:schemeClr val="accent3"/>
                </a:solidFill>
                <a:effectLst/>
              </a:rPr>
              <a:t>Tekshirdi: Hamrayeva Gulnoz  </a:t>
            </a:r>
            <a:br>
              <a:rPr lang="en-US" altLang="en-US">
                <a:solidFill>
                  <a:schemeClr val="accent3"/>
                </a:solidFill>
                <a:effectLst/>
              </a:rPr>
            </a:br>
            <a:r>
              <a:rPr lang="en-US" altLang="en-US">
                <a:solidFill>
                  <a:schemeClr val="accent3"/>
                </a:solidFill>
                <a:effectLst/>
              </a:rPr>
              <a:t>Guruh:650-22</a:t>
            </a:r>
            <a:endParaRPr lang="en-US" altLang="en-US">
              <a:solidFill>
                <a:schemeClr val="accent3"/>
              </a:solidFill>
              <a:effectLst/>
            </a:endParaRPr>
          </a:p>
        </p:txBody>
      </p:sp>
      <p:sp>
        <p:nvSpPr>
          <p:cNvPr id="3" name="Content Placeholder 2"/>
          <p:cNvSpPr>
            <a:spLocks noGrp="1"/>
          </p:cNvSpPr>
          <p:nvPr>
            <p:ph idx="1"/>
          </p:nvPr>
        </p:nvSpPr>
        <p:spPr>
          <a:xfrm>
            <a:off x="1295400" y="2432685"/>
            <a:ext cx="9601200" cy="3790315"/>
          </a:xfrm>
        </p:spPr>
        <p:txBody>
          <a:bodyPr>
            <a:normAutofit fontScale="70000"/>
          </a:bodyPr>
          <a:p>
            <a:pPr marL="0" indent="0" algn="ctr">
              <a:buNone/>
            </a:pPr>
            <a:r>
              <a:rPr lang="en-US" altLang="en-US" sz="3600"/>
              <a:t>REJA:</a:t>
            </a:r>
            <a:endParaRPr lang="en-US" altLang="en-US"/>
          </a:p>
          <a:p>
            <a:pPr algn="l"/>
            <a:r>
              <a:rPr lang="en-US" altLang="en-US" sz="3600">
                <a:latin typeface="Times New Roman" panose="02020603050405020304" pitchFamily="18" charset="0"/>
                <a:cs typeface="Times New Roman" panose="02020603050405020304" pitchFamily="18" charset="0"/>
              </a:rPr>
              <a:t>1.Ta’limda multimedia tushunchasi va uning pedagogik ahamiyati.</a:t>
            </a:r>
            <a:endParaRPr lang="en-US" altLang="en-US" sz="3600">
              <a:latin typeface="Times New Roman" panose="02020603050405020304" pitchFamily="18" charset="0"/>
              <a:cs typeface="Times New Roman" panose="02020603050405020304" pitchFamily="18" charset="0"/>
            </a:endParaRPr>
          </a:p>
          <a:p>
            <a:pPr algn="l"/>
            <a:r>
              <a:rPr lang="en-US" altLang="en-US" sz="3600">
                <a:latin typeface="Times New Roman" panose="02020603050405020304" pitchFamily="18" charset="0"/>
                <a:cs typeface="Times New Roman" panose="02020603050405020304" pitchFamily="18" charset="0"/>
              </a:rPr>
              <a:t>2.Richard E. Mayerning multimedia o‘qitish nazariyasi va asosiy kognitiv tamoyillari.</a:t>
            </a:r>
            <a:endParaRPr lang="en-US" altLang="en-US" sz="3600">
              <a:latin typeface="Times New Roman" panose="02020603050405020304" pitchFamily="18" charset="0"/>
              <a:cs typeface="Times New Roman" panose="02020603050405020304" pitchFamily="18" charset="0"/>
            </a:endParaRPr>
          </a:p>
          <a:p>
            <a:pPr algn="l"/>
            <a:r>
              <a:rPr lang="en-US" altLang="en-US" sz="3600">
                <a:latin typeface="Times New Roman" panose="02020603050405020304" pitchFamily="18" charset="0"/>
                <a:cs typeface="Times New Roman" panose="02020603050405020304" pitchFamily="18" charset="0"/>
              </a:rPr>
              <a:t>3.Mayer tamoyillarini dars jarayonida va elektron ta’limda qo‘llash yo‘llari.</a:t>
            </a:r>
            <a:endParaRPr lang="en-US" altLang="en-US" sz="3600">
              <a:latin typeface="Times New Roman" panose="02020603050405020304" pitchFamily="18" charset="0"/>
              <a:cs typeface="Times New Roman" panose="02020603050405020304" pitchFamily="18" charset="0"/>
            </a:endParaRPr>
          </a:p>
          <a:p>
            <a:pPr algn="l"/>
            <a:r>
              <a:rPr lang="en-US" altLang="en-US" sz="3600">
                <a:latin typeface="Times New Roman" panose="02020603050405020304" pitchFamily="18" charset="0"/>
                <a:cs typeface="Times New Roman" panose="02020603050405020304" pitchFamily="18" charset="0"/>
              </a:rPr>
              <a:t>4.Xulosa.</a:t>
            </a:r>
            <a:endParaRPr lang="en-US" altLang="en-US" sz="3600">
              <a:latin typeface="Times New Roman" panose="02020603050405020304" pitchFamily="18" charset="0"/>
              <a:cs typeface="Times New Roman" panose="02020603050405020304" pitchFamily="18" charset="0"/>
            </a:endParaRPr>
          </a:p>
          <a:p>
            <a:pPr algn="l"/>
            <a:endParaRPr lang="en-US" altLang="en-US"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b="1">
                <a:solidFill>
                  <a:schemeClr val="accent2"/>
                </a:solidFill>
                <a:latin typeface="Times New Roman" panose="02020603050405020304" pitchFamily="18" charset="0"/>
                <a:cs typeface="Times New Roman" panose="02020603050405020304" pitchFamily="18" charset="0"/>
                <a:sym typeface="+mn-ea"/>
              </a:rPr>
              <a:t>Ta’limda multimedia tushunchasi </a:t>
            </a:r>
            <a:endParaRPr lang="en-US" altLang="en-US" b="1">
              <a:solidFill>
                <a:schemeClr val="accent2"/>
              </a:solidFill>
              <a:latin typeface="Times New Roman" panose="02020603050405020304" pitchFamily="18" charset="0"/>
              <a:cs typeface="Times New Roman" panose="02020603050405020304" pitchFamily="18" charset="0"/>
              <a:sym typeface="+mn-ea"/>
            </a:endParaRPr>
          </a:p>
        </p:txBody>
      </p:sp>
      <p:sp>
        <p:nvSpPr>
          <p:cNvPr id="3" name="Content Placeholder 2"/>
          <p:cNvSpPr/>
          <p:nvPr>
            <p:ph idx="1"/>
          </p:nvPr>
        </p:nvSpPr>
        <p:spPr>
          <a:xfrm>
            <a:off x="1046480" y="2639060"/>
            <a:ext cx="5607050" cy="3486150"/>
          </a:xfrm>
        </p:spPr>
        <p:txBody>
          <a:bodyPr>
            <a:noAutofit/>
          </a:bodyPr>
          <a:p>
            <a:pPr marL="0" indent="0" algn="just">
              <a:lnSpc>
                <a:spcPct val="100000"/>
              </a:lnSpc>
              <a:buNone/>
            </a:pPr>
            <a:r>
              <a:rPr lang="en-US" altLang="en-US">
                <a:solidFill>
                  <a:schemeClr val="accent1"/>
                </a:solidFill>
                <a:latin typeface="Times New Roman" panose="02020603050405020304" pitchFamily="18" charset="0"/>
                <a:cs typeface="Times New Roman" panose="02020603050405020304" pitchFamily="18" charset="0"/>
              </a:rPr>
              <a:t>Ta’limda multimedia — bu o‘quv materialini matn, rasm, audio, video, animatsiya va grafik elementlar yordamida taqdim etish usulidir. Multimedia orqali ma’lumot bir vaqtning o‘zida bir nechta sezgi kanallari orqali qabul qilinadi, bu esa o‘rganish jarayonini yanada samarali qiladi. </a:t>
            </a:r>
            <a:endParaRPr lang="en-US" altLang="en-US">
              <a:solidFill>
                <a:schemeClr val="accent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6790055" y="2474595"/>
            <a:ext cx="4204970" cy="36499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0" y="934720"/>
            <a:ext cx="9601200" cy="1163955"/>
          </a:xfrm>
        </p:spPr>
        <p:txBody>
          <a:bodyPr>
            <a:normAutofit fontScale="90000"/>
          </a:bodyPr>
          <a:lstStyle/>
          <a:p>
            <a:r>
              <a:rPr lang="en-US" altLang="en-US" b="1">
                <a:solidFill>
                  <a:schemeClr val="accent2"/>
                </a:solidFill>
                <a:latin typeface="Times New Roman" panose="02020603050405020304" pitchFamily="18" charset="0"/>
                <a:cs typeface="Times New Roman" panose="02020603050405020304" pitchFamily="18" charset="0"/>
                <a:sym typeface="+mn-ea"/>
              </a:rPr>
              <a:t>Multimedia tushunchasining pedagogik ahamiyati</a:t>
            </a:r>
            <a:r>
              <a:rPr lang="en-US" altLang="en-US">
                <a:latin typeface="Times New Roman" panose="02020603050405020304" pitchFamily="18" charset="0"/>
                <a:cs typeface="Times New Roman" panose="02020603050405020304" pitchFamily="18" charset="0"/>
                <a:sym typeface="+mn-ea"/>
              </a:rPr>
              <a:t>. </a:t>
            </a:r>
            <a:endParaRPr lang="en-US" b="1" dirty="0">
              <a:latin typeface="Times New Roman" panose="02020603050405020304" pitchFamily="18" charset="0"/>
              <a:cs typeface="Times New Roman" panose="02020603050405020304" pitchFamily="18" charset="0"/>
            </a:endParaRPr>
          </a:p>
        </p:txBody>
      </p:sp>
      <p:pic>
        <p:nvPicPr>
          <p:cNvPr id="5" name="Content Placeholder 4"/>
          <p:cNvPicPr>
            <a:picLocks noChangeAspect="1"/>
          </p:cNvPicPr>
          <p:nvPr>
            <p:ph idx="1"/>
          </p:nvPr>
        </p:nvPicPr>
        <p:blipFill>
          <a:blip r:embed="rId1"/>
          <a:stretch>
            <a:fillRect/>
          </a:stretch>
        </p:blipFill>
        <p:spPr>
          <a:xfrm>
            <a:off x="2312035" y="2463165"/>
            <a:ext cx="7863840" cy="3779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altLang="en-US" b="1">
                <a:solidFill>
                  <a:schemeClr val="accent2"/>
                </a:solidFill>
                <a:latin typeface="Times New Roman" panose="02020603050405020304" pitchFamily="18" charset="0"/>
                <a:cs typeface="Times New Roman" panose="02020603050405020304" pitchFamily="18" charset="0"/>
                <a:sym typeface="+mn-ea"/>
              </a:rPr>
              <a:t>Richard E. Mayerning multimedia o‘qitish nazariyasi va asosiy kognitiv tamoyillari</a:t>
            </a:r>
            <a:endParaRPr lang="en-US" altLang="en-US" b="1" dirty="0">
              <a:solidFill>
                <a:schemeClr val="accent2"/>
              </a:solidFill>
              <a:latin typeface="Times New Roman" panose="02020603050405020304" pitchFamily="18" charset="0"/>
              <a:cs typeface="Times New Roman" panose="02020603050405020304" pitchFamily="18" charset="0"/>
              <a:sym typeface="+mn-ea"/>
            </a:endParaRPr>
          </a:p>
        </p:txBody>
      </p:sp>
      <p:sp>
        <p:nvSpPr>
          <p:cNvPr id="5" name="Text Box 4"/>
          <p:cNvSpPr txBox="1"/>
          <p:nvPr/>
        </p:nvSpPr>
        <p:spPr>
          <a:xfrm>
            <a:off x="1170940" y="2531745"/>
            <a:ext cx="6555105" cy="3566160"/>
          </a:xfrm>
          <a:prstGeom prst="rect">
            <a:avLst/>
          </a:prstGeom>
          <a:noFill/>
        </p:spPr>
        <p:txBody>
          <a:bodyPr wrap="square" rtlCol="0">
            <a:noAutofit/>
          </a:bodyPr>
          <a:p>
            <a:pPr indent="0" algn="just">
              <a:lnSpc>
                <a:spcPct val="150000"/>
              </a:lnSpc>
              <a:buFont typeface="Arial" panose="020B0604020202020204" pitchFamily="34" charset="0"/>
              <a:buNone/>
            </a:pPr>
            <a:r>
              <a:rPr lang="en-US" altLang="en-US" sz="2400">
                <a:solidFill>
                  <a:schemeClr val="accent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Richard E. Mayer — amerikalik pedagog-psixolog olim bo‘lib, u multimedia o‘qitish nazariyasi (Multimedia Learning Theory)ni ishlab chiqqan. Uning nazariyasi shuni tushuntiradiki: inson miyasi ma’lumotni qanday qabul qiladi va multimedia vositalari o‘rganishga qanday ta’sir qiladi.</a:t>
            </a:r>
            <a:endParaRPr lang="en-US" altLang="en-US" sz="2400">
              <a:solidFill>
                <a:schemeClr val="accent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4" name="Content Placeholder 3"/>
          <p:cNvPicPr>
            <a:picLocks noChangeAspect="1"/>
          </p:cNvPicPr>
          <p:nvPr>
            <p:ph idx="1"/>
          </p:nvPr>
        </p:nvPicPr>
        <p:blipFill>
          <a:blip r:embed="rId1"/>
          <a:stretch>
            <a:fillRect/>
          </a:stretch>
        </p:blipFill>
        <p:spPr>
          <a:xfrm>
            <a:off x="7877810" y="2469515"/>
            <a:ext cx="2905125" cy="37204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2" y="982132"/>
            <a:ext cx="9601196" cy="1303867"/>
          </a:xfrm>
        </p:spPr>
        <p:txBody>
          <a:bodyPr>
            <a:normAutofit fontScale="90000"/>
          </a:bodyPr>
          <a:lstStyle/>
          <a:p>
            <a:r>
              <a:rPr lang="en-US" altLang="en-US" b="1" dirty="0">
                <a:solidFill>
                  <a:schemeClr val="accent2"/>
                </a:solidFill>
                <a:latin typeface="Times New Roman" panose="02020603050405020304" pitchFamily="18" charset="0"/>
                <a:cs typeface="Times New Roman" panose="02020603050405020304" pitchFamily="18" charset="0"/>
              </a:rPr>
              <a:t>Multimedia o‘qitish nazariyasining asosiy g‘oyasi</a:t>
            </a:r>
            <a:endParaRPr lang="en-US" altLang="en-US" b="1" dirty="0">
              <a:solidFill>
                <a:schemeClr val="accent2"/>
              </a:solidFill>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390015" y="2479040"/>
            <a:ext cx="4593590" cy="3640455"/>
          </a:xfrm>
        </p:spPr>
        <p:txBody>
          <a:bodyPr>
            <a:noAutofit/>
          </a:bodyPr>
          <a:lstStyle/>
          <a:p>
            <a:pPr marL="0" indent="0" algn="just" fontAlgn="auto">
              <a:lnSpc>
                <a:spcPct val="150000"/>
              </a:lnSpc>
              <a:spcBef>
                <a:spcPts val="0"/>
              </a:spcBef>
              <a:spcAft>
                <a:spcPts val="0"/>
              </a:spcAft>
              <a:buFont typeface="Wingdings" panose="05000000000000000000" pitchFamily="2" charset="2"/>
              <a:buNone/>
            </a:pPr>
            <a:r>
              <a:rPr lang="en-US" altLang="en-US" dirty="0">
                <a:solidFill>
                  <a:schemeClr val="accent1"/>
                </a:solidFill>
                <a:latin typeface="Times New Roman" panose="02020603050405020304" pitchFamily="18" charset="0"/>
                <a:cs typeface="Times New Roman" panose="02020603050405020304" pitchFamily="18" charset="0"/>
              </a:rPr>
              <a:t>Mayerga ko‘ra, inson ma’lumotni ikki asosiy kanal orqali qabul qiladi:</a:t>
            </a:r>
            <a:endParaRPr lang="en-US" altLang="en-US" dirty="0">
              <a:solidFill>
                <a:schemeClr val="accent1"/>
              </a:solidFill>
              <a:latin typeface="Times New Roman" panose="02020603050405020304" pitchFamily="18" charset="0"/>
              <a:cs typeface="Times New Roman" panose="02020603050405020304" pitchFamily="18" charset="0"/>
            </a:endParaRPr>
          </a:p>
          <a:p>
            <a:pPr marL="0" indent="0" algn="just" fontAlgn="auto">
              <a:lnSpc>
                <a:spcPct val="150000"/>
              </a:lnSpc>
              <a:spcBef>
                <a:spcPts val="0"/>
              </a:spcBef>
              <a:spcAft>
                <a:spcPts val="0"/>
              </a:spcAft>
              <a:buFont typeface="Wingdings" panose="05000000000000000000" pitchFamily="2" charset="2"/>
              <a:buNone/>
            </a:pPr>
            <a:r>
              <a:rPr lang="en-US" altLang="en-US" dirty="0">
                <a:solidFill>
                  <a:schemeClr val="accent1"/>
                </a:solidFill>
                <a:latin typeface="Times New Roman" panose="02020603050405020304" pitchFamily="18" charset="0"/>
                <a:cs typeface="Times New Roman" panose="02020603050405020304" pitchFamily="18" charset="0"/>
              </a:rPr>
              <a:t>Vizual kanal (rasm, grafik, matn)</a:t>
            </a:r>
            <a:endParaRPr lang="en-US" altLang="en-US" dirty="0">
              <a:solidFill>
                <a:schemeClr val="accent1"/>
              </a:solidFill>
              <a:latin typeface="Times New Roman" panose="02020603050405020304" pitchFamily="18" charset="0"/>
              <a:cs typeface="Times New Roman" panose="02020603050405020304" pitchFamily="18" charset="0"/>
            </a:endParaRPr>
          </a:p>
          <a:p>
            <a:pPr marL="0" indent="0" algn="just" fontAlgn="auto">
              <a:lnSpc>
                <a:spcPct val="150000"/>
              </a:lnSpc>
              <a:spcBef>
                <a:spcPts val="0"/>
              </a:spcBef>
              <a:spcAft>
                <a:spcPts val="0"/>
              </a:spcAft>
              <a:buFont typeface="Wingdings" panose="05000000000000000000" pitchFamily="2" charset="2"/>
              <a:buNone/>
            </a:pPr>
            <a:r>
              <a:rPr lang="en-US" altLang="en-US" dirty="0">
                <a:solidFill>
                  <a:schemeClr val="accent1"/>
                </a:solidFill>
                <a:latin typeface="Times New Roman" panose="02020603050405020304" pitchFamily="18" charset="0"/>
                <a:cs typeface="Times New Roman" panose="02020603050405020304" pitchFamily="18" charset="0"/>
              </a:rPr>
              <a:t>Audial kanal (ovoz, nutq)</a:t>
            </a:r>
            <a:endParaRPr lang="en-US" altLang="en-US" dirty="0">
              <a:solidFill>
                <a:schemeClr val="accent1"/>
              </a:solidFill>
              <a:latin typeface="Times New Roman" panose="02020603050405020304" pitchFamily="18" charset="0"/>
              <a:cs typeface="Times New Roman" panose="02020603050405020304" pitchFamily="18" charset="0"/>
            </a:endParaRPr>
          </a:p>
          <a:p>
            <a:pPr marL="0" indent="0" algn="just" fontAlgn="auto">
              <a:lnSpc>
                <a:spcPct val="100000"/>
              </a:lnSpc>
              <a:spcBef>
                <a:spcPts val="0"/>
              </a:spcBef>
              <a:spcAft>
                <a:spcPts val="0"/>
              </a:spcAft>
              <a:buFont typeface="Wingdings" panose="05000000000000000000" pitchFamily="2" charset="2"/>
              <a:buNone/>
            </a:pPr>
            <a:endParaRPr lang="en-US" altLang="en-US" dirty="0">
              <a:solidFill>
                <a:schemeClr val="accent1"/>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6269355" y="2592070"/>
            <a:ext cx="4332605" cy="3528060"/>
          </a:xfrm>
          <a:prstGeom prst="rect">
            <a:avLst/>
          </a:prstGeom>
          <a:noFill/>
        </p:spPr>
        <p:txBody>
          <a:bodyPr wrap="square" rtlCol="0">
            <a:noAutofit/>
          </a:bodyPr>
          <a:p>
            <a:endParaRPr lang="en-US" sz="140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6096000" y="2479040"/>
            <a:ext cx="4717415" cy="36404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chemeClr val="accent1"/>
                </a:solidFill>
              </a:rPr>
              <a:t>Ma`lumotlarning qabul qilinishi.</a:t>
            </a:r>
            <a:endParaRPr lang="en-US" b="1">
              <a:solidFill>
                <a:schemeClr val="accent1"/>
              </a:solidFill>
            </a:endParaRPr>
          </a:p>
        </p:txBody>
      </p:sp>
      <p:sp>
        <p:nvSpPr>
          <p:cNvPr id="5" name="Text Box 4"/>
          <p:cNvSpPr txBox="1"/>
          <p:nvPr/>
        </p:nvSpPr>
        <p:spPr>
          <a:xfrm>
            <a:off x="996315" y="2606675"/>
            <a:ext cx="5431155" cy="3396615"/>
          </a:xfrm>
          <a:prstGeom prst="rect">
            <a:avLst/>
          </a:prstGeom>
          <a:noFill/>
        </p:spPr>
        <p:txBody>
          <a:bodyPr wrap="square" rtlCol="0">
            <a:noAutofit/>
          </a:bodyPr>
          <a:p>
            <a:pPr indent="0">
              <a:buFont typeface="Arial" panose="020B0604020202020204" pitchFamily="34" charset="0"/>
              <a:buNone/>
            </a:pPr>
            <a:endParaRPr lang="en-US" altLang="en-US" sz="2000" b="1">
              <a:latin typeface="Times New Roman" panose="02020603050405020304" pitchFamily="18" charset="0"/>
              <a:cs typeface="Times New Roman" panose="02020603050405020304" pitchFamily="18" charset="0"/>
            </a:endParaRPr>
          </a:p>
        </p:txBody>
      </p:sp>
      <p:pic>
        <p:nvPicPr>
          <p:cNvPr id="4" name="Content Placeholder 3"/>
          <p:cNvPicPr>
            <a:picLocks noChangeAspect="1"/>
          </p:cNvPicPr>
          <p:nvPr>
            <p:ph idx="1"/>
          </p:nvPr>
        </p:nvPicPr>
        <p:blipFill>
          <a:blip r:embed="rId1"/>
          <a:stretch>
            <a:fillRect/>
          </a:stretch>
        </p:blipFill>
        <p:spPr>
          <a:xfrm>
            <a:off x="2646045" y="2451735"/>
            <a:ext cx="7225030" cy="37788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2" y="982133"/>
            <a:ext cx="9601196" cy="1233530"/>
          </a:xfrm>
        </p:spPr>
        <p:txBody>
          <a:bodyPr>
            <a:normAutofit fontScale="90000"/>
          </a:bodyPr>
          <a:lstStyle/>
          <a:p>
            <a:r>
              <a:rPr lang="en-US" altLang="en-US" b="1" dirty="0">
                <a:solidFill>
                  <a:schemeClr val="accent2"/>
                </a:solidFill>
                <a:latin typeface="Times New Roman" panose="02020603050405020304" pitchFamily="18" charset="0"/>
                <a:cs typeface="Times New Roman" panose="02020603050405020304" pitchFamily="18" charset="0"/>
                <a:sym typeface="+mn-ea"/>
              </a:rPr>
              <a:t>Ma`lumotlarning uzoq muddatli xotiraga joylashish jarayoni </a:t>
            </a:r>
            <a:endParaRPr lang="en-US" altLang="en-US" b="1" dirty="0">
              <a:solidFill>
                <a:schemeClr val="accent2"/>
              </a:solidFill>
              <a:latin typeface="Times New Roman" panose="02020603050405020304" pitchFamily="18" charset="0"/>
              <a:cs typeface="Times New Roman" panose="02020603050405020304" pitchFamily="18" charset="0"/>
              <a:sym typeface="+mn-ea"/>
            </a:endParaRPr>
          </a:p>
        </p:txBody>
      </p:sp>
      <p:sp>
        <p:nvSpPr>
          <p:cNvPr id="3" name="Объект 2"/>
          <p:cNvSpPr>
            <a:spLocks noGrp="1"/>
          </p:cNvSpPr>
          <p:nvPr>
            <p:ph idx="1"/>
          </p:nvPr>
        </p:nvSpPr>
        <p:spPr>
          <a:xfrm>
            <a:off x="1108075" y="2406650"/>
            <a:ext cx="10252075" cy="3776980"/>
          </a:xfrm>
        </p:spPr>
        <p:txBody>
          <a:bodyPr>
            <a:noAutofit/>
          </a:bodyPr>
          <a:lstStyle/>
          <a:p>
            <a:pPr marL="0" indent="0">
              <a:buNone/>
            </a:pPr>
            <a:endParaRPr lang="en-US" altLang="en-US" sz="2000" dirty="0">
              <a:latin typeface="Times New Roman" panose="02020603050405020304" pitchFamily="18" charset="0"/>
              <a:cs typeface="Times New Roman" panose="02020603050405020304" pitchFamily="18" charset="0"/>
            </a:endParaRPr>
          </a:p>
          <a:p>
            <a:pPr marL="0" indent="0">
              <a:buNone/>
            </a:pPr>
            <a:endParaRPr lang="en-US" alt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198370" y="2488565"/>
            <a:ext cx="7795260" cy="36950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chemeClr val="accent2"/>
                </a:solidFill>
                <a:sym typeface="+mn-ea"/>
              </a:rPr>
              <a:t>Selecting Relevant Material</a:t>
            </a:r>
            <a:endParaRPr lang="en-US"/>
          </a:p>
        </p:txBody>
      </p:sp>
      <p:pic>
        <p:nvPicPr>
          <p:cNvPr id="4" name="Content Placeholder 3"/>
          <p:cNvPicPr>
            <a:picLocks noChangeAspect="1"/>
          </p:cNvPicPr>
          <p:nvPr>
            <p:ph idx="1"/>
          </p:nvPr>
        </p:nvPicPr>
        <p:blipFill>
          <a:blip r:embed="rId1"/>
          <a:stretch>
            <a:fillRect/>
          </a:stretch>
        </p:blipFill>
        <p:spPr>
          <a:xfrm>
            <a:off x="1415415" y="2473325"/>
            <a:ext cx="9277350" cy="37242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chemeClr val="accent2"/>
                </a:solidFill>
              </a:rPr>
              <a:t>Organizing Selected Material</a:t>
            </a:r>
            <a:endParaRPr lang="en-US" altLang="en-US" b="1">
              <a:solidFill>
                <a:schemeClr val="accent2"/>
              </a:solidFill>
            </a:endParaRPr>
          </a:p>
        </p:txBody>
      </p:sp>
      <p:pic>
        <p:nvPicPr>
          <p:cNvPr id="4" name="Content Placeholder 3"/>
          <p:cNvPicPr>
            <a:picLocks noChangeAspect="1"/>
          </p:cNvPicPr>
          <p:nvPr>
            <p:ph idx="1"/>
          </p:nvPr>
        </p:nvPicPr>
        <p:blipFill>
          <a:blip r:embed="rId1"/>
          <a:stretch>
            <a:fillRect/>
          </a:stretch>
        </p:blipFill>
        <p:spPr>
          <a:xfrm>
            <a:off x="1400175" y="2435225"/>
            <a:ext cx="9368790" cy="37693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chemeClr val="accent2"/>
                </a:solidFill>
              </a:rPr>
              <a:t>Integrating Representations</a:t>
            </a:r>
            <a:endParaRPr lang="en-US" altLang="en-US" b="1">
              <a:solidFill>
                <a:schemeClr val="accent2"/>
              </a:solidFill>
            </a:endParaRPr>
          </a:p>
        </p:txBody>
      </p:sp>
      <p:pic>
        <p:nvPicPr>
          <p:cNvPr id="4" name="Content Placeholder 3"/>
          <p:cNvPicPr>
            <a:picLocks noChangeAspect="1"/>
          </p:cNvPicPr>
          <p:nvPr>
            <p:ph idx="1"/>
          </p:nvPr>
        </p:nvPicPr>
        <p:blipFill>
          <a:blip r:embed="rId1"/>
          <a:stretch>
            <a:fillRect/>
          </a:stretch>
        </p:blipFill>
        <p:spPr>
          <a:xfrm>
            <a:off x="1447800" y="2427605"/>
            <a:ext cx="9284970" cy="37826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4767" y="982132"/>
            <a:ext cx="9601196" cy="1303867"/>
          </a:xfrm>
        </p:spPr>
        <p:txBody>
          <a:bodyPr>
            <a:normAutofit/>
          </a:bodyPr>
          <a:lstStyle/>
          <a:p>
            <a:r>
              <a:rPr lang="en-US" altLang="en-US" sz="4000" b="1" dirty="0">
                <a:solidFill>
                  <a:schemeClr val="accent2"/>
                </a:solidFill>
                <a:latin typeface="Times New Roman" panose="02020603050405020304" pitchFamily="18" charset="0"/>
                <a:cs typeface="Times New Roman" panose="02020603050405020304" pitchFamily="18" charset="0"/>
                <a:sym typeface="+mn-ea"/>
              </a:rPr>
              <a:t>Mayerning asosiy kognitiv tamoyillari</a:t>
            </a:r>
            <a:endParaRPr lang="en-US" altLang="en-US" sz="4000" b="1" dirty="0">
              <a:solidFill>
                <a:schemeClr val="accent2"/>
              </a:solidFill>
              <a:latin typeface="Times New Roman" panose="02020603050405020304" pitchFamily="18" charset="0"/>
              <a:cs typeface="Times New Roman" panose="02020603050405020304" pitchFamily="18" charset="0"/>
              <a:sym typeface="+mn-ea"/>
            </a:endParaRPr>
          </a:p>
        </p:txBody>
      </p:sp>
      <p:sp>
        <p:nvSpPr>
          <p:cNvPr id="3" name="Content Placeholder 2"/>
          <p:cNvSpPr/>
          <p:nvPr>
            <p:ph idx="1"/>
          </p:nvPr>
        </p:nvSpPr>
        <p:spPr>
          <a:xfrm>
            <a:off x="1294765" y="2557145"/>
            <a:ext cx="9601200" cy="3540125"/>
          </a:xfrm>
        </p:spPr>
        <p:txBody>
          <a:bodyPr>
            <a:noAutofit/>
          </a:bodyPr>
          <a:p>
            <a:pPr marL="0" indent="0" algn="just" fontAlgn="auto">
              <a:lnSpc>
                <a:spcPct val="150000"/>
              </a:lnSpc>
              <a:spcBef>
                <a:spcPts val="0"/>
              </a:spcBef>
              <a:spcAft>
                <a:spcPts val="0"/>
              </a:spcAft>
              <a:buNone/>
            </a:pPr>
            <a:r>
              <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Multimedia tamoyili – matn + rasm birgalikda berilsa, faqat matnga qaraganda samaraliroq.</a:t>
            </a:r>
            <a:endPar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0" indent="0" algn="just" fontAlgn="auto">
              <a:lnSpc>
                <a:spcPct val="150000"/>
              </a:lnSpc>
              <a:spcBef>
                <a:spcPts val="0"/>
              </a:spcBef>
              <a:spcAft>
                <a:spcPts val="0"/>
              </a:spcAft>
              <a:buNone/>
            </a:pPr>
            <a:r>
              <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Coherence tamoyili – keraksiz rasm, ovoz va effektlarni olib tashlash kerak.</a:t>
            </a:r>
            <a:endPar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0" indent="0" algn="just" fontAlgn="auto">
              <a:lnSpc>
                <a:spcPct val="150000"/>
              </a:lnSpc>
              <a:spcBef>
                <a:spcPts val="0"/>
              </a:spcBef>
              <a:spcAft>
                <a:spcPts val="0"/>
              </a:spcAft>
              <a:buNone/>
            </a:pPr>
            <a:r>
              <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Modallik tamoyili – grafik bilan birga yozma matn emas, balki tushuntiruvchi audio samaraliroq.</a:t>
            </a:r>
            <a:endPar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0" indent="0" algn="just" fontAlgn="auto">
              <a:lnSpc>
                <a:spcPct val="150000"/>
              </a:lnSpc>
              <a:spcBef>
                <a:spcPts val="0"/>
              </a:spcBef>
              <a:spcAft>
                <a:spcPts val="0"/>
              </a:spcAft>
              <a:buNone/>
            </a:pPr>
            <a:r>
              <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Redundancy tamoyili – bir xil ma’lumotni bir vaqtning o‘zida ham matn, ham audio qilib berish ortiqcha yuklama keltirib chiqaradi.</a:t>
            </a:r>
            <a:endPar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0" indent="0" algn="just" fontAlgn="auto">
              <a:lnSpc>
                <a:spcPct val="150000"/>
              </a:lnSpc>
              <a:spcBef>
                <a:spcPts val="0"/>
              </a:spcBef>
              <a:spcAft>
                <a:spcPts val="0"/>
              </a:spcAft>
              <a:buNone/>
            </a:pPr>
            <a:r>
              <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Segmentlash tamoyili – murakkab ma’lumotni kichik qismlarga bo‘lib berish kerak.</a:t>
            </a:r>
            <a:endPar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0" indent="0" algn="just" fontAlgn="auto">
              <a:lnSpc>
                <a:spcPct val="150000"/>
              </a:lnSpc>
              <a:spcBef>
                <a:spcPts val="0"/>
              </a:spcBef>
              <a:spcAft>
                <a:spcPts val="0"/>
              </a:spcAft>
              <a:buNone/>
            </a:pPr>
            <a:r>
              <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Signaling tamoyili – muhim joylarni ajratib ko‘rsatish o‘rganishni yaxshilaydi.</a:t>
            </a:r>
            <a:endParaRPr lang="en-US" altLang="en-US" sz="1800" b="1">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6" name="Text Box 5"/>
          <p:cNvSpPr txBox="1"/>
          <p:nvPr/>
        </p:nvSpPr>
        <p:spPr>
          <a:xfrm>
            <a:off x="7623810" y="2498090"/>
            <a:ext cx="3465830" cy="3599180"/>
          </a:xfrm>
          <a:prstGeom prst="rect">
            <a:avLst/>
          </a:prstGeom>
          <a:noFill/>
        </p:spPr>
        <p:txBody>
          <a:bodyPr wrap="square" rtlCol="0">
            <a:noAutofit/>
          </a:bodyPr>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a:t>X</a:t>
            </a:r>
            <a:r>
              <a:rPr lang="en-US" b="1" dirty="0" smtClean="0"/>
              <a:t>ULOSA</a:t>
            </a:r>
            <a:endParaRPr lang="en-US" b="1" dirty="0"/>
          </a:p>
        </p:txBody>
      </p:sp>
      <p:pic>
        <p:nvPicPr>
          <p:cNvPr id="4" name="Content Placeholder 3"/>
          <p:cNvPicPr>
            <a:picLocks noChangeAspect="1"/>
          </p:cNvPicPr>
          <p:nvPr>
            <p:ph idx="1"/>
          </p:nvPr>
        </p:nvPicPr>
        <p:blipFill>
          <a:blip r:embed="rId1"/>
          <a:stretch>
            <a:fillRect/>
          </a:stretch>
        </p:blipFill>
        <p:spPr>
          <a:xfrm>
            <a:off x="1295400" y="692150"/>
            <a:ext cx="9762490" cy="54571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chemeClr val="accent2"/>
                </a:solidFill>
              </a:rPr>
              <a:t>Xulosa</a:t>
            </a:r>
            <a:endParaRPr lang="en-US" b="1">
              <a:solidFill>
                <a:schemeClr val="accent2"/>
              </a:solidFill>
            </a:endParaRPr>
          </a:p>
        </p:txBody>
      </p:sp>
      <p:sp>
        <p:nvSpPr>
          <p:cNvPr id="3" name="Content Placeholder 2"/>
          <p:cNvSpPr>
            <a:spLocks noGrp="1"/>
          </p:cNvSpPr>
          <p:nvPr>
            <p:ph idx="1"/>
          </p:nvPr>
        </p:nvSpPr>
        <p:spPr>
          <a:xfrm>
            <a:off x="1295400" y="2557145"/>
            <a:ext cx="9601200" cy="3669030"/>
          </a:xfrm>
        </p:spPr>
        <p:txBody>
          <a:bodyPr>
            <a:noAutofit/>
          </a:bodyPr>
          <a:p>
            <a:pPr marL="0" indent="0" algn="just">
              <a:buNone/>
            </a:pPr>
            <a:r>
              <a:rPr lang="en-US" altLang="en-US">
                <a:solidFill>
                  <a:schemeClr val="accent1"/>
                </a:solidFill>
              </a:rPr>
              <a:t>Ta’limda multimedia o‘qitish jarayonini samarali tashkil etishning muhim vositasidir. Biroq uning samarasi faqat texnologiyaga emas, balki ilmiy asoslangan dizaynga bog‘liq. Richard E. Mayerning kognitiv tamoyillari shuni ko‘rsatadiki, inson miyasi ma’lumotni cheklangan hajmda va ikki kanal orqali qabul qiladi. Shuning uchun multimedia darslari ortiqcha yuklamasiz, soddalashtirilgan va mantiqiy tuzilgan bo‘lishi kerak.Mayer tamoyillarini to‘g‘ri qo‘llash natijasida o‘quvchilarning tushunish darajasi, eslab qolishi va bilimni amalda qo‘llash ko‘nikmalari oshadi. Demak, multimedia — bu shunchaki vizual bezak emas, balki ilmiy asoslangan samarali ta’lim vositasidir.</a:t>
            </a:r>
            <a:endParaRPr lang="en-US" altLang="en-US">
              <a:solidFill>
                <a:schemeClr val="accent1"/>
              </a:solidFill>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Натуральные материалы">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2740</Words>
  <Application>WPS Presentation</Application>
  <PresentationFormat>Широкоэкранный</PresentationFormat>
  <Paragraphs>59</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Algerian</vt:lpstr>
      <vt:lpstr>Times New Roman</vt:lpstr>
      <vt:lpstr>Garamond</vt:lpstr>
      <vt:lpstr>Microsoft YaHei</vt:lpstr>
      <vt:lpstr>Arial Unicode MS</vt:lpstr>
      <vt:lpstr>Calibri</vt:lpstr>
      <vt:lpstr>Натуральные материалы</vt:lpstr>
      <vt:lpstr>MUSTAQIL ISH</vt:lpstr>
      <vt:lpstr>Bajardi:Omonov Sardor Tekshirdi: Hamrayeva Gulnoz   Guruh:650-22</vt:lpstr>
      <vt:lpstr>Oliy ta`lim muassasasi missiyasi va vazifasini taxlil qilish</vt:lpstr>
      <vt:lpstr>Oliy ta’lim muassasasi missiyasining mazmuni </vt:lpstr>
      <vt:lpstr>Oliy ta’lim muassasasi missiyasining ahamiyati</vt:lpstr>
      <vt:lpstr>Universitet vazifalari: ta’lim, ilmiy tadqiqot va innovatsiya</vt:lpstr>
      <vt:lpstr>Ilmiy-tadqiqot vazifasi.</vt:lpstr>
      <vt:lpstr>Universitetning jamiyat va iqtisodiyotdagi o‘rni</vt:lpstr>
      <vt:lpstr>PowerPoint 演示文稿</vt:lpstr>
      <vt:lpstr>PowerPoint 演示文稿</vt:lpstr>
      <vt:lpstr>PowerPoint 演示文稿</vt:lpstr>
      <vt:lpstr>Misol sifatida: O‘zbekiston Milliy Universiteti (O‘zMU) missiyasi va vazifalari</vt:lpstr>
      <vt:lpstr>XULOSA</vt:lpstr>
      <vt:lpstr>PowerPoint 演示文稿</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MUSTAQIL ISH</dc:title>
  <dc:creator>Sarvar Anvarov</dc:creator>
  <cp:lastModifiedBy>user</cp:lastModifiedBy>
  <cp:revision>18</cp:revision>
  <dcterms:created xsi:type="dcterms:W3CDTF">2025-03-03T16:54:00Z</dcterms:created>
  <dcterms:modified xsi:type="dcterms:W3CDTF">2026-02-26T15:11:10Z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E85A2996374146288F4E6C38ED2CB99A_13</vt:lpwstr>
  </property>
  <property fmtid="{D5CDD505-2E9C-101B-9397-08002B2CF9AE}" pid="3" name="KSOProductBuildVer">
    <vt:lpwstr>1033-12.1.0.25242</vt:lpwstr>
  </property>
</Properties>
</file>